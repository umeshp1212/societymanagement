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2E86DE"/>
                </a:solidFill>
                <a:latin typeface="Segoe UI"/>
              </a:rPr>
              <a:t>SOCIETY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789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Member Portal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0">
                <a:solidFill>
                  <a:srgbClr val="CFDDEE"/>
                </a:solidFill>
                <a:latin typeface="Segoe UI"/>
              </a:rPr>
              <a:t>Features Available to Society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B9C9DD"/>
                </a:solidFill>
                <a:latin typeface="Segoe UI"/>
              </a:rPr>
              <a:t>A self-service portal for flat owners to log in, view maintenance dues,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>
                <a:solidFill>
                  <a:srgbClr val="B9C9DD"/>
                </a:solidFill>
                <a:latin typeface="Segoe UI"/>
              </a:rPr>
              <a:t>pay bills online, download receipts, and manage their profile.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Members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09728" cy="2240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Self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Register with unit, email &amp; mobile, verified by OTP and approved by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37160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1371600"/>
            <a:ext cx="109728" cy="22402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OTP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8600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Passwordless sign-in using a one-time code sent to mobile and 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371600"/>
            <a:ext cx="109728" cy="2240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Maintenance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28600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See outstanding, paid, pending bills and recent payment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137160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43416" y="1371600"/>
            <a:ext cx="109728" cy="22402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6002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Online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28600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Pay full or partial dues via Razorpay / Cashfree (UPI, card, netbanking).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109728" cy="2240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Bills &amp; Receipts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View full bill history and download bill and receipt PDFs.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9272" y="384048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3840480"/>
            <a:ext cx="109728" cy="22402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4069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Profile &amp;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2" y="475488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View masked profile and request contact detail updates.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84048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81344" y="3840480"/>
            <a:ext cx="109728" cy="22402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069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Register a Tenant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475488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Submit tenant details for the unit; NOC emailed on approval.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43416" y="3840480"/>
            <a:ext cx="2697480" cy="22402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43416" y="3840480"/>
            <a:ext cx="109728" cy="22402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4069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Segoe UI"/>
              </a:rPr>
              <a:t>Apply for NOC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4754880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Request, track and download No Objection Certificates.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Self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New members onboard themselves. They pick their unit, enter email and mobile, verify via OTP, and the request goes to the committee for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Select flat/unit from a dropdown of all society units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Enter email and mobile number to identify the member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Receive an OTP on email to verify the request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Request is created in a pending state after verification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Committee (Chairman / Secretary) approves and links it to the owner record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No account is active until an admin approves the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7AE60"/>
                </a:solidFill>
                <a:latin typeface="Segoe UI"/>
              </a:rPr>
              <a:t>Endpoints: /api/member/auth/register/send-otp, /verify-otp, /units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member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OTP Login (Passwordless)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Members sign in with just their registered mobile number. A one-time code is sent to their mobile and email — no password to remember.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Enter registered mobile number to request an OTP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OTP delivered to email (and mobile via SMS integration)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Code expires in 5 minutes for security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Limited attempts and hourly rate limiting to prevent abuse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On success, a secure JWT session is issued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Login returns the member's linked unit(s)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E86DE"/>
                </a:solidFill>
                <a:latin typeface="Segoe UI"/>
              </a:rPr>
              <a:t>Endpoints: /api/member/auth/send-otp, /verify-otp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member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Maintenance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After login, members land on a dashboard summarizing their financial standing with the society at a glance.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Total outstanding amount across all bills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Total amount paid to date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Count of pending / unpaid bills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Recent payment activity feed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Per-unit view for owners with more than one flat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Live refresh after each successful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E86DE"/>
                </a:solidFill>
                <a:latin typeface="Segoe UI"/>
              </a:rPr>
              <a:t>Endpoint: /api/member/maintenance/dashboard/{unitId}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memb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Bills &amp; Payment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Members get full transparency into every bill raised and every payment made against their unit, with downloadable documents.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View all maintenance bills for the unit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Filter to only outstanding / unpaid bills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Paginated payment history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See payments made against a specific bill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Download any bill as a PDF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Download a payment receipt as a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7AE60"/>
                </a:solidFill>
                <a:latin typeface="Segoe UI"/>
              </a:rPr>
              <a:t>Endpoints: /bills, /outstanding, /payments, /bill-pdf, /receipt-pdf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memb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Online 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Members pay maintenance dues online in a few taps. The portal supports multiple gateways and both full and partial payments.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Pay full outstanding or a partial amount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Razorpay and Cashfree payment gateways supported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UPI apps, debit / credit card, and net banking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Portal auto-detects the active gateway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Payment is verified with a secure signature check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Successful payment updates the bill and dashboard automatically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Server-to-server webhooks confirm payment reliably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E86DE"/>
                </a:solidFill>
                <a:latin typeface="Segoe UI"/>
              </a:rPr>
              <a:t>Endpoints: /payments/active-gateway, /create-order, /verify, /webhook/*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memb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My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Members view their own details with sensitive information masked, and can request changes to their contact info — approved by the committee.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View profile with unit, masked mobile and email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Submit a request to update mobile / email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Optional reason field for the change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Changes are reviewed and approved by the committee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No direct edits — keeps records controlled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7AE60"/>
                </a:solidFill>
                <a:latin typeface="Segoe UI"/>
              </a:rPr>
              <a:t>Endpoints: /api/member/profile, /profile/update-request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member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Register a 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Owners register a tenant for their unit directly from the portal. On approval, a No Objection Certificate is generated and emailed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Select your unit and enter tenant details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Capture agreement dates, rent and deposit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Optional Aadhaar / PAN and permanent address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Submit for society admin review and approval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Approved tenant triggers an NOC by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E86DE"/>
                </a:solidFill>
                <a:latin typeface="Segoe UI"/>
              </a:rPr>
              <a:t>Endpoint: /api/member/tenants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-member-ten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FEATURE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Apply for NOC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120640" cy="4754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12064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617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22B38"/>
                </a:solidFill>
                <a:latin typeface="Segoe UI"/>
              </a:rPr>
              <a:t>Members request a No Objection Certificate (for a bank loan, property tax name change, and more), track its status, and download the approved certificate.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  <a:latin typeface="Segoe UI"/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4617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Choose the NOC type and addressee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Add purpose / details and target unit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Submit for committee review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Track status of all your NOC requests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50">
                <a:solidFill>
                  <a:srgbClr val="222B38"/>
                </a:solidFill>
                <a:latin typeface="Segoe UI"/>
              </a:rPr>
              <a:t>•  Download the approved certificate as a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7AE60"/>
                </a:solidFill>
                <a:latin typeface="Segoe UI"/>
              </a:rPr>
              <a:t>Endpoints: /api/member/noc-requests, /types, /{id}/certificate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7880" y="1863092"/>
            <a:ext cx="5937880" cy="372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-member-n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3092"/>
            <a:ext cx="5897880" cy="36861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2E86DE"/>
                </a:solidFill>
                <a:latin typeface="Segoe UI"/>
              </a:rPr>
              <a:t>HOW IT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Member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50" y="2651760"/>
            <a:ext cx="2084831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6105" y="288036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90" y="3703320"/>
            <a:ext cx="19019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Segoe UI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10" y="4069080"/>
            <a:ext cx="18105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Pick unit, verify OTP, await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5993" y="34747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2E86DE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1441" y="2651760"/>
            <a:ext cx="2084831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8096" y="2880360"/>
            <a:ext cx="731520" cy="73152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2881" y="3703320"/>
            <a:ext cx="19019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Segoe UI"/>
              </a:rPr>
              <a:t>Log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8601" y="4069080"/>
            <a:ext cx="18105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Enter mobile, receive &amp; confirm OTP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7984" y="34747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2E86DE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3432" y="2651760"/>
            <a:ext cx="2084831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880360"/>
            <a:ext cx="731520" cy="73152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4872" y="3703320"/>
            <a:ext cx="19019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Segoe UI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0592" y="4069080"/>
            <a:ext cx="18105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Check dashboard &amp; outstanding bills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9975" y="34747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2E86DE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5423" y="2651760"/>
            <a:ext cx="2084831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2078" y="288036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6863" y="3703320"/>
            <a:ext cx="19019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Segoe UI"/>
              </a:rPr>
              <a:t>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2583" y="4069080"/>
            <a:ext cx="18105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Pay full/partial via UPI, card, netbanking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1966" y="34747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2E86DE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7414" y="2651760"/>
            <a:ext cx="2084831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74069" y="2880360"/>
            <a:ext cx="731520" cy="73152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8854" y="3703320"/>
            <a:ext cx="19019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Segoe UI"/>
              </a:rPr>
              <a:t>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4574" y="4069080"/>
            <a:ext cx="18105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5A6778"/>
                </a:solidFill>
                <a:latin typeface="Segoe UI"/>
              </a:rPr>
              <a:t>Download PDF receipt, dashboard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28816"/>
            <a:ext cx="7315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Segoe UI"/>
              </a:rPr>
              <a:t>Society Management  |  Member Portal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28816"/>
            <a:ext cx="731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2E86DE"/>
                </a:solidFill>
                <a:latin typeface="Segoe UI"/>
              </a:rPr>
              <a:t>BUILT-IN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Safe &amp; Convenient for Every Member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4884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DDE7F2"/>
                </a:solidFill>
                <a:latin typeface="Segoe UI"/>
              </a:rPr>
              <a:t>Passwordless OTP login with 5-minute expiry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14884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DDE7F2"/>
                </a:solidFill>
                <a:latin typeface="Segoe UI"/>
              </a:rPr>
              <a:t>Attempt limits and hourly rate limiting on OTP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1752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DDE7F2"/>
                </a:solidFill>
                <a:latin typeface="Segoe UI"/>
              </a:rPr>
              <a:t>Secure JWT session tokens after login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01752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DDE7F2"/>
                </a:solidFill>
                <a:latin typeface="Segoe UI"/>
              </a:rPr>
              <a:t>Personal information masked in the profile view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8620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947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DDE7F2"/>
                </a:solidFill>
                <a:latin typeface="Segoe UI"/>
              </a:rPr>
              <a:t>Payment signatures verified before recording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3886200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DDE7F2"/>
                </a:solidFill>
                <a:latin typeface="Segoe UI"/>
              </a:rPr>
              <a:t>Profile &amp; registration changes require committee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20640"/>
            <a:ext cx="1051560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Members stay informed and pay on time — the committee saves hours of manual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